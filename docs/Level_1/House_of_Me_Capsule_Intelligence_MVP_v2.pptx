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reference: moodmixer-platform-vision-v2.pptx, provided by the user, used as a visual-format reference only.
- Internal reference: House_of_Me_Luxury_Fashion_Experience.pptx, provided by the user.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554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House of 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BBBBB"/>
                </a:solidFill>
              </a:rPr>
              <a:t>Capsule Intelligence MVP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8751d7b4d9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>
              <a:alpha val="5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749808"/>
            <a:ext cx="5166360" cy="5303520"/>
          </a:xfrm>
          <a:prstGeom prst="roundRect">
            <a:avLst/>
          </a:prstGeom>
          <a:solidFill>
            <a:srgbClr val="151515">
              <a:alpha val="87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2688" y="9875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House of Me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32688" y="1755648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7CDA2"/>
                </a:solidFill>
              </a:rPr>
              <a:t>Build a Wardrobe,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E7CDA2"/>
                </a:solidFill>
              </a:rPr>
              <a:t>Not a Shopping Cart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32688" y="3246120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D7E5"/>
                </a:solidFill>
              </a:rPr>
              <a:t>Powered by Capsule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400507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Buy less. Wear more. Make every piece earn its place.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530352"/>
            <a:ext cx="12191695" cy="960120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" y="8138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full closet can still feel like nothing to wear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43584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D0D0"/>
                </a:solidFill>
              </a:rPr>
              <a:t>The problem is not lack of fashion. It is lack of wardrobe coherence.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64008" cy="16002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CLOSET FULLNESS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26771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Many items, but few dependable combinations.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64008" cy="160020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DISCONNECTED PURCHASES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26771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Pieces are bought individually without considering the existing wardrobe.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76472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76472"/>
            <a:ext cx="64008" cy="160020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1363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OCCASION PRESSURE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2611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Travel, promotions and events lead to rushed purchases.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776472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776472"/>
            <a:ext cx="64008" cy="1600200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913632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LOW WARDROBE UTILITY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42611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A small number of pieces are repeatedly worn while others remain unused.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Every piece must earn its place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House of Me evaluates a purchase by the wardrobe value it creates, not only by style affinity.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37360"/>
            <a:ext cx="64008" cy="150876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NEW OUTFITS CREATED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How many combinations become possible?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737360"/>
            <a:ext cx="64008" cy="1508760"/>
          </a:xfrm>
          <a:prstGeom prst="rect">
            <a:avLst/>
          </a:prstGeom>
          <a:solidFill>
            <a:srgbClr val="005AB3"/>
          </a:solidFill>
          <a:ln w="12700">
            <a:solidFill>
              <a:srgbClr val="005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EXISTING PIECES COMPLEMENTED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Which owned items become more wearable?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0275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737360"/>
            <a:ext cx="64008" cy="1508760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OCCASIONS COVERED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8563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What real-life needs are solved?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657600"/>
            <a:ext cx="64008" cy="1508760"/>
          </a:xfrm>
          <a:prstGeom prst="rect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REDUNDANCY AVOIDED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Does the customer already own a similar piece?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227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272" y="3657600"/>
            <a:ext cx="64008" cy="150876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WARDROBE GAP SOLVED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515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Does the item connect or complete the wardrobe?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3657600"/>
            <a:ext cx="64008" cy="150876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CONFIDENCE CREATED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8563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Does the capsule make dressing easier?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0" y="5623560"/>
            <a:ext cx="8503920" cy="475488"/>
          </a:xfrm>
          <a:prstGeom prst="roundRect">
            <a:avLst/>
          </a:prstGeom>
          <a:solidFill>
            <a:srgbClr val="F8EDF3"/>
          </a:solidFill>
          <a:ln w="12700">
            <a:solidFill>
              <a:srgbClr val="E8C9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57698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274F"/>
                </a:solidFill>
              </a:rPr>
              <a:t>Hero moment: “This blazer works with 8 pieces you own and creates 12 new outfits.”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Choose a capsule mission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The experience begins with a specific life need, not a generic style quiz.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3035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64008" cy="16002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20240"/>
            <a:ext cx="498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NEW LEADER CAPSULE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2677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Office, client meetings, leadership events and work-to-dinner.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3035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83080"/>
            <a:ext cx="64008" cy="1600200"/>
          </a:xfrm>
          <a:prstGeom prst="rect">
            <a:avLst/>
          </a:prstGeom>
          <a:solidFill>
            <a:srgbClr val="005AB3"/>
          </a:solidFill>
          <a:ln w="12700">
            <a:solidFill>
              <a:srgbClr val="005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20240"/>
            <a:ext cx="498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CARRY-ON CAPSULE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2677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Five days, one carry-on and multiple occasions.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776472"/>
            <a:ext cx="53035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776472"/>
            <a:ext cx="64008" cy="160020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13632"/>
            <a:ext cx="498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EVENT-SEASON CAPSULE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1248" y="426110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Several events, minimal new purchases and distinct looks.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776472"/>
            <a:ext cx="53035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776472"/>
            <a:ext cx="64008" cy="1600200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13632"/>
            <a:ext cx="498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STYLE-RESET CAPSULE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426110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A new role, lifestyle or wardrobe transition.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65960" y="5669280"/>
            <a:ext cx="8229600" cy="411480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E7CD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57881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5A25"/>
                </a:solidFill>
              </a:rPr>
              <a:t>Recommended MVP hero: The New Leader Capsule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The capsule builder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Use what the customer already owns, then add the smallest number of pieces that unlocks the most value.</a:t>
            </a:r>
            <a:endParaRPr lang="en-US" sz="1250" dirty="0"/>
          </a:p>
        </p:txBody>
      </p:sp>
      <p:pic>
        <p:nvPicPr>
          <p:cNvPr id="4" name="Image 0" descr="/mnt/data/60c1ced59d.png"/>
          <p:cNvPicPr>
            <a:picLocks noChangeAspect="1"/>
          </p:cNvPicPr>
          <p:nvPr/>
        </p:nvPicPr>
        <p:blipFill>
          <a:blip r:embed="rId3"/>
          <a:srcRect l="13277" r="13277"/>
          <a:stretch/>
        </p:blipFill>
        <p:spPr>
          <a:xfrm>
            <a:off x="621792" y="1719072"/>
            <a:ext cx="475488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50992" y="1755648"/>
            <a:ext cx="26517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50992" y="1755648"/>
            <a:ext cx="64008" cy="1207008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33872" y="1892808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ALREADY OWN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833872" y="22402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7 usable pieces selected from the customer’s wardrobe.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80" y="1755648"/>
            <a:ext cx="26517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41080" y="1755648"/>
            <a:ext cx="64008" cy="1207008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23960" y="1892808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ADD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23960" y="2240280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3 strategically selected gap-filling pieces.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50992" y="3255264"/>
            <a:ext cx="26517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50992" y="3255264"/>
            <a:ext cx="64008" cy="1207008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33872" y="3392424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UNLOCK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33872" y="3739896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18 outfit combinations across real occasions.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41080" y="3255264"/>
            <a:ext cx="2651760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41080" y="3255264"/>
            <a:ext cx="64008" cy="1207008"/>
          </a:xfrm>
          <a:prstGeom prst="rect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23960" y="3392424"/>
            <a:ext cx="2331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CONTINUE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23960" y="3739896"/>
            <a:ext cx="2331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Save capsule, request fitting or add only the missing pieces.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50992" y="4754880"/>
            <a:ext cx="564184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50992" y="4754880"/>
            <a:ext cx="64008" cy="114300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33872" y="4892040"/>
            <a:ext cx="53218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THE BUSINESS IDEA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833872" y="5239512"/>
            <a:ext cx="5321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Adding fewer, better-chosen items creates more wardrobe utility than adding many disconnected pieces.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Wardrobe gap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House of Me should be willing to say “do not buy another dress.”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37360"/>
            <a:ext cx="64008" cy="114300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MISSING THIRD LAYER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A neutral blazer connects existing tops, trousers and dresses.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37360"/>
            <a:ext cx="64008" cy="114300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TOO MANY STATEMENT PIECES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22199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The wardrobe lacks foundations that multiply combinations.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15468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154680"/>
            <a:ext cx="64008" cy="1143000"/>
          </a:xfrm>
          <a:prstGeom prst="rect">
            <a:avLst/>
          </a:prstGeom>
          <a:solidFill>
            <a:srgbClr val="005AB3"/>
          </a:solidFill>
          <a:ln w="12700">
            <a:solidFill>
              <a:srgbClr val="005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29184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LIMITED WORK-TO-EVENING RANGE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363931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One versatile shoe or layer unlocks multiple transitions.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154680"/>
            <a:ext cx="64008" cy="1143000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29184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PALETTE DOES NOT CONNECT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63931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A bridge color can make separate wardrobe groups work together.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457200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4572000"/>
            <a:ext cx="64008" cy="1143000"/>
          </a:xfrm>
          <a:prstGeom prst="rect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70916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TRAVEL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05663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The customer lacks a repeatable, packable shoe or outer layer.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37667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572000"/>
            <a:ext cx="64008" cy="114300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709160"/>
            <a:ext cx="5056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CATEGORY OVERLOAD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5056632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The customer already owns enough items in the proposed category.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Why this piece?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Replace opaque style scores with clear wardrobe-utility explanations.</a:t>
            </a:r>
            <a:endParaRPr lang="en-US" sz="1250" dirty="0"/>
          </a:p>
        </p:txBody>
      </p:sp>
      <p:pic>
        <p:nvPicPr>
          <p:cNvPr id="4" name="Image 0" descr="/mnt/data/4f8fc0cf53.png"/>
          <p:cNvPicPr>
            <a:picLocks noChangeAspect="1"/>
          </p:cNvPicPr>
          <p:nvPr/>
        </p:nvPicPr>
        <p:blipFill>
          <a:blip r:embed="rId3"/>
          <a:srcRect l="13319" r="13319"/>
          <a:stretch/>
        </p:blipFill>
        <p:spPr>
          <a:xfrm>
            <a:off x="621792" y="1737360"/>
            <a:ext cx="4709160" cy="4279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50992" y="1783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274F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50992" y="21031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</a:rPr>
              <a:t>Structured Neutral Blazer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0" y="2788920"/>
            <a:ext cx="256032" cy="256032"/>
          </a:xfrm>
          <a:prstGeom prst="ellipse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825496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2770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Works with 8 existing pieces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0" y="3319272"/>
            <a:ext cx="256032" cy="256032"/>
          </a:xfrm>
          <a:prstGeom prst="ellipse">
            <a:avLst/>
          </a:prstGeom>
          <a:solidFill>
            <a:srgbClr val="005AB3"/>
          </a:solidFill>
          <a:ln w="12700">
            <a:solidFill>
              <a:srgbClr val="005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3355848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80760" y="33009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Creates 12 new outfits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0" y="3849624"/>
            <a:ext cx="256032" cy="256032"/>
          </a:xfrm>
          <a:prstGeom prst="ellipse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88620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80760" y="38313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Covers office, client meeting, travel and dinner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0" y="4379976"/>
            <a:ext cx="256032" cy="256032"/>
          </a:xfrm>
          <a:prstGeom prst="ellipse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4416552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0760" y="4361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Fills an identified layering gap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0" y="4910328"/>
            <a:ext cx="256032" cy="256032"/>
          </a:xfrm>
          <a:prstGeom prst="ellipse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4946904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0760" y="48920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Complements the existing wardrobe palette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50992" y="5532120"/>
            <a:ext cx="5394960" cy="502920"/>
          </a:xfrm>
          <a:prstGeom prst="roundRect">
            <a:avLst/>
          </a:prstGeom>
          <a:solidFill>
            <a:srgbClr val="F8EDF3"/>
          </a:solidFill>
          <a:ln w="12700">
            <a:solidFill>
              <a:srgbClr val="E8C9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568756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274F"/>
                </a:solidFill>
              </a:rPr>
              <a:t>Explanation beats “92% style match.”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530352"/>
            <a:ext cx="12191695" cy="713232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704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" y="1417320"/>
            <a:ext cx="12134088" cy="914400"/>
          </a:xfrm>
          <a:prstGeom prst="rect">
            <a:avLst/>
          </a:prstGeom>
          <a:solidFill>
            <a:srgbClr val="F2EAF8"/>
          </a:solidFill>
          <a:ln w="12700">
            <a:solidFill>
              <a:srgbClr val="F2EA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270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00FF"/>
                </a:solidFill>
              </a:rPr>
              <a:t>IDENTITY + INPUT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79222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1109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Member profile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35808" y="179222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91109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Style preferences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70448" y="179222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1109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Wardrobe selection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705088" y="179222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91109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Capsule mission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" y="2514600"/>
            <a:ext cx="12134088" cy="914400"/>
          </a:xfrm>
          <a:prstGeom prst="rect">
            <a:avLst/>
          </a:prstGeom>
          <a:solidFill>
            <a:srgbClr val="F8EDF3"/>
          </a:solidFill>
          <a:ln w="12700">
            <a:solidFill>
              <a:srgbClr val="F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2624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00FF"/>
                </a:solidFill>
              </a:rPr>
              <a:t>PROFILE + WARDROBE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288950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0837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style_profile.json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35808" y="288950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00837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wardrobe.json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70448" y="288950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00837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purchase_history.json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05088" y="288950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300837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occasion_context.json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" y="3611880"/>
            <a:ext cx="12134088" cy="91440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7216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00FF"/>
                </a:solidFill>
              </a:rPr>
              <a:t>CAPSULE + DECISION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398678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10565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catalog.json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35808" y="398678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410565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outfit compatibility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70448" y="398678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410565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gap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05088" y="3986784"/>
            <a:ext cx="25786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4105656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capsule optimization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" y="4754880"/>
            <a:ext cx="5943600" cy="914400"/>
          </a:xfrm>
          <a:prstGeom prst="rect">
            <a:avLst/>
          </a:prstGeom>
          <a:solidFill>
            <a:srgbClr val="F7EEF4"/>
          </a:solidFill>
          <a:ln w="12700">
            <a:solidFill>
              <a:srgbClr val="F7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4864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00FF"/>
                </a:solidFill>
              </a:rPr>
              <a:t>EXPERIENCE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Kiosk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7568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Mobile lookbook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5020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Smart mirror 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754880"/>
            <a:ext cx="6016752" cy="914400"/>
          </a:xfrm>
          <a:prstGeom prst="rect">
            <a:avLst/>
          </a:prstGeom>
          <a:solidFill>
            <a:srgbClr val="EDF1FA"/>
          </a:solidFill>
          <a:ln w="12700">
            <a:solidFill>
              <a:srgbClr val="EDF1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4864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100FF"/>
                </a:solidFill>
              </a:rPr>
              <a:t>OUTPUT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2764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Capsule edit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0216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Outfit matrix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076688" y="5138928"/>
            <a:ext cx="1645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9840" y="52578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Wishlist / appointment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012680" y="58704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66666"/>
                </a:solidFill>
              </a:rPr>
              <a:t>⊕ optional enhancement</a:t>
            </a:r>
            <a:endParaRPr lang="en-US" sz="8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MVP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Prove the capsule decision loop before investing in immersive hardware.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755648"/>
            <a:ext cx="5349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55648"/>
            <a:ext cx="5349240" cy="594360"/>
          </a:xfrm>
          <a:prstGeom prst="rect">
            <a:avLst/>
          </a:prstGeom>
          <a:solidFill>
            <a:srgbClr val="1A7A32"/>
          </a:solidFill>
          <a:ln w="12700">
            <a:solidFill>
              <a:srgbClr val="1A7A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7510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MUST HAVE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78408" y="2670048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One hero persona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One capsule mission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Sample wardrobe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Small product catalog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Compatibility rules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Capsule builder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Outfit matrix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Gap analysis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Recommendation explanations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Mobile lookbook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73368" y="1755648"/>
            <a:ext cx="5349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755648"/>
            <a:ext cx="5349240" cy="594360"/>
          </a:xfrm>
          <a:prstGeom prst="rect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97510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NOT NEEDED YET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93408" y="2670048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Full wardrobe recognition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Live inventory integration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Real checkout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Advanced body visualization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Smart mirror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RFID garment rail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Digital concierge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Hologram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Living runway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83838"/>
                </a:solidFill>
              </a:rPr>
              <a:t>• Production loyalty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03504" y="749808"/>
            <a:ext cx="8869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</a:rPr>
              <a:t>MVP success question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1252728"/>
            <a:ext cx="9875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6666"/>
                </a:solidFill>
              </a:rPr>
              <a:t>Can one intentional purchase create more wardrobe value than several disconnected purchases?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737360"/>
            <a:ext cx="64008" cy="1508760"/>
          </a:xfrm>
          <a:prstGeom prst="rect">
            <a:avLst/>
          </a:prstGeom>
          <a:solidFill>
            <a:srgbClr val="A100FF"/>
          </a:solidFill>
          <a:ln w="12700">
            <a:solidFill>
              <a:srgbClr val="A10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NEW OUTFITS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How many combinations were created?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6227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62272" y="1737360"/>
            <a:ext cx="64008" cy="1508760"/>
          </a:xfrm>
          <a:prstGeom prst="rect">
            <a:avLst/>
          </a:prstGeom>
          <a:solidFill>
            <a:srgbClr val="005AB3"/>
          </a:solidFill>
          <a:ln w="12700">
            <a:solidFill>
              <a:srgbClr val="005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OCCASION COVERAGE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How many real-life needs are addressed?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02752" y="173736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1737360"/>
            <a:ext cx="64008" cy="1508760"/>
          </a:xfrm>
          <a:prstGeom prst="rect">
            <a:avLst/>
          </a:prstGeom>
          <a:solidFill>
            <a:srgbClr val="007976"/>
          </a:solidFill>
          <a:ln w="12700">
            <a:solidFill>
              <a:srgbClr val="0079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87452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EXISTING PIECES REUSED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85632" y="22219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How much of the wardrobe becomes useful again?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657600"/>
            <a:ext cx="64008" cy="1508760"/>
          </a:xfrm>
          <a:prstGeom prst="rect">
            <a:avLst/>
          </a:prstGeom>
          <a:solidFill>
            <a:srgbClr val="C85200"/>
          </a:solidFill>
          <a:ln w="12700">
            <a:solidFill>
              <a:srgbClr val="C85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REDUNDANT PURCHASE AVOIDED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Did the platform stop an unnecessary purchase?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227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62272" y="3657600"/>
            <a:ext cx="64008" cy="1508760"/>
          </a:xfrm>
          <a:prstGeom prst="rect">
            <a:avLst/>
          </a:prstGeom>
          <a:solidFill>
            <a:srgbClr val="6E274F"/>
          </a:solidFill>
          <a:ln w="12700">
            <a:solidFill>
              <a:srgbClr val="6E2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CAPSULE SAVED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515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Did the customer want to keep the edit?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2752" y="3657600"/>
            <a:ext cx="352044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blurRad="12700" dist="508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3657600"/>
            <a:ext cx="64008" cy="1508760"/>
          </a:xfrm>
          <a:prstGeom prst="rect">
            <a:avLst/>
          </a:prstGeom>
          <a:solidFill>
            <a:srgbClr val="C89B55"/>
          </a:solidFill>
          <a:ln w="12700">
            <a:solidFill>
              <a:srgbClr val="C89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3794760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</a:rPr>
              <a:t>NEXT ACTION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85632" y="4142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83838"/>
                </a:solidFill>
              </a:rPr>
              <a:t>Was a gap-filling item wishlisted or requested?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74520" y="5650992"/>
            <a:ext cx="8458200" cy="475488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28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5797296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Profile → Wardrobe → Capsule → Closet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e8228c-e2eb-4057-9e54-6cff5bbd08d7}" enabled="1" method="Standar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of Me Capsule Intelligence MVP</dc:title>
  <dc:subject>PptxGenJS Presentation</dc:subject>
  <dc:creator>Bastian, Raquel F.</dc:creator>
  <cp:lastModifiedBy>Bastian, Raquel F.</cp:lastModifiedBy>
  <cp:revision>2</cp:revision>
  <dcterms:created xsi:type="dcterms:W3CDTF">2026-09-11T03:33:02Z</dcterms:created>
  <dcterms:modified xsi:type="dcterms:W3CDTF">2026-09-11T04:39:06Z</dcterms:modified>
</cp:coreProperties>
</file>