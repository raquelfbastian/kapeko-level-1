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and user-story details were developed from the user-provided NutriVerse requirements.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</a:rPr>
              <a:t>NutriVerse | Computer Vision + Dynamic 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MVP user story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43e27fcef5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18">
              <a:alpha val="5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713232"/>
            <a:ext cx="5349240" cy="5394960"/>
          </a:xfrm>
          <a:prstGeom prst="roundRect">
            <a:avLst>
              <a:gd name="adj" fmla="val 1197"/>
            </a:avLst>
          </a:prstGeom>
          <a:solidFill>
            <a:srgbClr val="081D1A">
              <a:alpha val="8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996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NutriVerse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96112" y="175564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F2E8"/>
                </a:solidFill>
              </a:rPr>
              <a:t>Computer Vision +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C8F2E8"/>
                </a:solidFill>
              </a:rPr>
              <a:t>Dynamic Pricing User Story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4434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grocery experience where the store sees shelf conditions, understands household context, and proposes the right action with human approval.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148072"/>
            <a:ext cx="4206240" cy="256032"/>
          </a:xfrm>
          <a:prstGeom prst="rect">
            <a:avLst/>
          </a:prstGeom>
          <a:solidFill>
            <a:srgbClr val="8B3D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HOUSEHOLD INTELLIGENCE × STORE INTELLIGENCE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Hero user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scenario combines a known household, shelf computer vision, product interaction, inventory, and an approved price action.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1261872"/>
          </a:xfrm>
          <a:prstGeom prst="roundRect">
            <a:avLst>
              <a:gd name="adj" fmla="val 5797"/>
            </a:avLst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190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As a returning grocery member,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 want the store to recognize products I may need and show relevant, available options when I interact with the shelf,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 that I can make a faster, informed purchase without searching the entire aisle.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34564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3063240"/>
            <a:ext cx="73152" cy="2148840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2004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MEMBER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566160"/>
            <a:ext cx="311810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member profile indicates a recurring shampoo purchase pattern. A replenishment reminder was shown before the visit.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370832" y="3063240"/>
            <a:ext cx="34564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3063240"/>
            <a:ext cx="73152" cy="2148840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2004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STORE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11810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Computer vision observes shelf stock and detects that the member lifted a shampoo product. Inventory and electronic shelf-label data are available.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83296" y="3063240"/>
            <a:ext cx="34564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3063240"/>
            <a:ext cx="73152" cy="2148840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32004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OUTCOME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4464" y="3566160"/>
            <a:ext cx="311810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NutriVerse explains relevance, shows an available comparable option, and presents an approved promotional price. The member chooses what to buy.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920240" y="5559552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1E9FF"/>
          </a:solidFill>
          <a:ln w="12700">
            <a:solidFill>
              <a:srgbClr val="D7C5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569671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3DFF"/>
                </a:solidFill>
              </a:rPr>
              <a:t>AI observes and proposes. Pricing rules and accountable humans control the final price action.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User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strongest demo is one continuous story, not separate computer-vision and pricing stations.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38912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29968"/>
            <a:ext cx="585216" cy="585216"/>
          </a:xfrm>
          <a:prstGeom prst="ellipse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3DFF"/>
                </a:solidFill>
              </a:rPr>
              <a:t>IDENTIFY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Member taps card or app QR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8A2B3"/>
                </a:solidFill>
              </a:rPr>
              <a:t>›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386584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2029968"/>
            <a:ext cx="585216" cy="585216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23744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69AA"/>
                </a:solidFill>
              </a:rPr>
              <a:t>ANTICIPATE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9464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Replenishment Agent flags shampoo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050792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8A2B3"/>
                </a:solidFill>
              </a:rPr>
              <a:t>›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4334256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2029968"/>
            <a:ext cx="585216" cy="585216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71416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F78"/>
                </a:solidFill>
              </a:rPr>
              <a:t>OBSERVE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7136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Computer vision detects shelf and lift event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998464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8A2B3"/>
                </a:solidFill>
              </a:rPr>
              <a:t>›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6281928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2029968"/>
            <a:ext cx="585216" cy="585216"/>
          </a:xfrm>
          <a:prstGeom prst="ellipse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6A1A"/>
                </a:solidFill>
              </a:rPr>
              <a:t>DECIDE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64808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Pricing Agent evaluates approved conditions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946136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8A2B3"/>
                </a:solidFill>
              </a:rPr>
              <a:t>›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8229600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69096" y="2029968"/>
            <a:ext cx="585216" cy="585216"/>
          </a:xfrm>
          <a:prstGeom prst="ellipse">
            <a:avLst/>
          </a:prstGeom>
          <a:solidFill>
            <a:srgbClr val="237A3B"/>
          </a:solidFill>
          <a:ln w="12700">
            <a:solidFill>
              <a:srgbClr val="237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69096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66760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7A3B"/>
                </a:solidFill>
              </a:rPr>
              <a:t>EXPERIENCE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12480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Shelf display shows relevance and options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893808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8A2B3"/>
                </a:solidFill>
              </a:rPr>
              <a:t>›</a:t>
            </a:r>
            <a:endParaRPr lang="en-US" sz="2300" dirty="0"/>
          </a:p>
        </p:txBody>
      </p:sp>
      <p:sp>
        <p:nvSpPr>
          <p:cNvPr id="34" name="Shape 32"/>
          <p:cNvSpPr/>
          <p:nvPr/>
        </p:nvSpPr>
        <p:spPr>
          <a:xfrm>
            <a:off x="10177272" y="1737360"/>
            <a:ext cx="1664208" cy="31821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5080" dir="2700000" algn="bl" rotWithShape="0">
              <a:srgbClr val="101828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716768" y="2029968"/>
            <a:ext cx="585216" cy="585216"/>
          </a:xfrm>
          <a:prstGeom prst="ellipse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16768" y="2176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314432" y="28895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B4A"/>
                </a:solidFill>
              </a:rPr>
              <a:t>CONTINUE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360152" y="340156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Member adds item; journey updates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960120" y="5358384"/>
            <a:ext cx="10241280" cy="585216"/>
          </a:xfrm>
          <a:prstGeom prst="roundRect">
            <a:avLst>
              <a:gd name="adj" fmla="val 6250"/>
            </a:avLst>
          </a:prstGeom>
          <a:solidFill>
            <a:srgbClr val="E7F6F2"/>
          </a:solidFill>
          <a:ln w="12700">
            <a:solidFill>
              <a:srgbClr val="B9DE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5541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F78"/>
                </a:solidFill>
              </a:rPr>
              <a:t>Member-facing promise: “You may be due for shampoo. Your usual item and a comparable promoted option are available today.”</a:t>
            </a:r>
            <a:endParaRPr lang="en-US" sz="12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Computer vision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Computer vision makes the physical shelf observable and responsive. It does not need to identify the member’s face.</a:t>
            </a:r>
            <a:endParaRPr lang="en-US" sz="1250" dirty="0"/>
          </a:p>
        </p:txBody>
      </p:sp>
      <p:pic>
        <p:nvPicPr>
          <p:cNvPr id="4" name="Image 0" descr="/mnt/data/569e352b4f.png"/>
          <p:cNvPicPr>
            <a:picLocks noChangeAspect="1"/>
          </p:cNvPicPr>
          <p:nvPr/>
        </p:nvPicPr>
        <p:blipFill>
          <a:blip r:embed="rId3"/>
          <a:srcRect l="4432" r="4432"/>
          <a:stretch/>
        </p:blipFill>
        <p:spPr>
          <a:xfrm>
            <a:off x="566928" y="1298448"/>
            <a:ext cx="667512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25880"/>
            <a:ext cx="40690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325880"/>
            <a:ext cx="73152" cy="1143000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14630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WHAT THE CAMERA OBSERVES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99248" y="182880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Product presence, low-stock conditions, incorrect placement, and a lift-or-return product interaction.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7498080" y="2679192"/>
            <a:ext cx="40690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0" y="2679192"/>
            <a:ext cx="73152" cy="1325880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99248" y="28163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WHAT THE EVENT CREATES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99248" y="3182112"/>
            <a:ext cx="3730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 product interaction event containing product, shelf, store, timestamp, and event type. Member identity comes from the membership session, not the camera.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498080" y="4224528"/>
            <a:ext cx="4069080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4224528"/>
            <a:ext cx="73152" cy="1344168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99248" y="43616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WHAT HAPPENS NEXT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99248" y="4727448"/>
            <a:ext cx="37307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Journey Orchestrator combines the event with inventory, member context, approved content, and pricing rules to produce the shelf response.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Dynamic pricing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MVP should demonstrate controlled price proposals and electronic label updates, not autonomous individualized pricing.</a:t>
            </a:r>
            <a:endParaRPr lang="en-US" sz="1250" dirty="0"/>
          </a:p>
        </p:txBody>
      </p:sp>
      <p:pic>
        <p:nvPicPr>
          <p:cNvPr id="4" name="Image 0" descr="/mnt/data/a58259d6ee.png"/>
          <p:cNvPicPr>
            <a:picLocks noChangeAspect="1"/>
          </p:cNvPicPr>
          <p:nvPr/>
        </p:nvPicPr>
        <p:blipFill>
          <a:blip r:embed="rId3"/>
          <a:srcRect l="3933" r="3933"/>
          <a:stretch/>
        </p:blipFill>
        <p:spPr>
          <a:xfrm>
            <a:off x="4864608" y="1298448"/>
            <a:ext cx="6748272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44168"/>
            <a:ext cx="39136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44168"/>
            <a:ext cx="73152" cy="117043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8132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INPUT SIGNALS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47088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Inventory level • shelf stock • expiry or waste risk • approved promotion • demand signal • margin floor • store policy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594360" y="2743200"/>
            <a:ext cx="391363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743200"/>
            <a:ext cx="73152" cy="1280160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88036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PRICING 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46120"/>
            <a:ext cx="3575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Evaluates whether an approved pricing rule applies and produces a proposed price, reason, effective window, and affected store or product.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94360" y="4251960"/>
            <a:ext cx="39136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251960"/>
            <a:ext cx="73152" cy="1325880"/>
          </a:xfrm>
          <a:prstGeom prst="rect">
            <a:avLst/>
          </a:prstGeom>
          <a:solidFill>
            <a:srgbClr val="237A3B"/>
          </a:solidFill>
          <a:ln w="12700">
            <a:solidFill>
              <a:srgbClr val="237A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3891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APPROVAL AND EXECUTION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754880"/>
            <a:ext cx="3575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An authorized person or policy gate approves the action. The pricing service updates the electronic shelf label and NutriVerse records the audit trail.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The shelf response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Lift &amp; Learn becomes more powerful when household relevance and store conditions appear together.</a:t>
            </a:r>
            <a:endParaRPr lang="en-US" sz="1250" dirty="0"/>
          </a:p>
        </p:txBody>
      </p:sp>
      <p:pic>
        <p:nvPicPr>
          <p:cNvPr id="4" name="Image 0" descr="/mnt/data/60feb2aad8.png"/>
          <p:cNvPicPr>
            <a:picLocks noChangeAspect="1"/>
          </p:cNvPicPr>
          <p:nvPr/>
        </p:nvPicPr>
        <p:blipFill>
          <a:blip r:embed="rId3"/>
          <a:srcRect l="3933" r="3933"/>
          <a:stretch/>
        </p:blipFill>
        <p:spPr>
          <a:xfrm>
            <a:off x="566928" y="1298448"/>
            <a:ext cx="6748272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35024"/>
            <a:ext cx="40050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0" y="1335024"/>
            <a:ext cx="73152" cy="1060704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90688" y="1472184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WHY THIS PRODUCT APPEARS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90688" y="1837944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Possible replenishment based on the member’s usual purchase interval.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7589520" y="2587752"/>
            <a:ext cx="40050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89520" y="2587752"/>
            <a:ext cx="73152" cy="1060704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0688" y="272491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WHAT THE STORE KNOWS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90688" y="3090672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usual product and a comparable alternative are currently available.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89520" y="3840480"/>
            <a:ext cx="40050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589520" y="3840480"/>
            <a:ext cx="73152" cy="1060704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0688" y="3977640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WHAT CHANGED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90688" y="4343400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An approved promotion applies to the comparable option for a defined period.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7589520" y="5093208"/>
            <a:ext cx="40050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89520" y="5093208"/>
            <a:ext cx="73152" cy="822960"/>
          </a:xfrm>
          <a:prstGeom prst="rect">
            <a:avLst/>
          </a:prstGeom>
          <a:solidFill>
            <a:srgbClr val="237A3B"/>
          </a:solidFill>
          <a:ln w="12700">
            <a:solidFill>
              <a:srgbClr val="237A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688" y="5230368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MEMBER CONTROL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90688" y="5596128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Add usual item • choose alternative • remind later • update frequency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AI agent and system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Bounded agents collaborate through the Journey Orchestrator; deterministic services execute the final actions.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45952" cy="43891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9616"/>
            <a:ext cx="2606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COMPONENT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66160" y="1499616"/>
            <a:ext cx="5166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ROLE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0" y="149961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792224"/>
            <a:ext cx="11045952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38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8B3DFF"/>
                </a:solidFill>
              </a:rPr>
              <a:t>Household Insight Agent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3566160" y="191109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Loads consented household and purchase context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87968" y="1911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Household summary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267712"/>
            <a:ext cx="11045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140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8B3DFF"/>
                </a:solidFill>
              </a:rPr>
              <a:t>Replenishment Agent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3566160" y="23865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Estimates whether shampoo may be due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87968" y="2386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Replenishment candidate + reason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11045952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895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007F78"/>
                </a:solidFill>
              </a:rPr>
              <a:t>Computer Vision Service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Detects shelf state and lift / return event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87968" y="28620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Product interaction event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218688"/>
            <a:ext cx="11045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3649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769AA"/>
                </a:solidFill>
              </a:rPr>
              <a:t>Inventory Service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Returns store and shelf availability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87968" y="3337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Availability state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694176"/>
            <a:ext cx="11045952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8404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E56A1A"/>
                </a:solidFill>
              </a:rPr>
              <a:t>Pricing Agent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3566160" y="381304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Evaluates approved pricing rules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87968" y="3813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Price proposal + explanation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4169664"/>
            <a:ext cx="11045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159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42B4A"/>
                </a:solidFill>
              </a:rPr>
              <a:t>Journey Orchestrator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3566160" y="42885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Combines member, shelf, inventory and offer context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87968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Experience instruction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4645152"/>
            <a:ext cx="11045952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791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37A3B"/>
                </a:solidFill>
              </a:rPr>
              <a:t>Shelf Experience Service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3566160" y="476402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Renders content and choices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87968" y="4764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Digital rail / display response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120640"/>
            <a:ext cx="11045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266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8B3DFF"/>
                </a:solidFill>
              </a:rPr>
              <a:t>Basket Intelligence Agent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3566160" y="523951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Updates basket after member action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887968" y="5239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Basket and continuation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5596128"/>
            <a:ext cx="11045952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5742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007F78"/>
                </a:solidFill>
              </a:rPr>
              <a:t>Experience Intelligence Agent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3566160" y="571500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D2939"/>
                </a:solidFill>
              </a:rPr>
              <a:t>Analyzes acceptance, swaps and corrections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87968" y="5715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Improvement insight</a:t>
            </a:r>
            <a:endParaRPr lang="en-US" sz="9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MVP acceptance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demo is successful when the customer story, store action, and safety controls all work together.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89888"/>
            <a:ext cx="73152" cy="987552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MEMBER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Given a known demo member, the experience loads an approved household profile and sample purchase history.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309360" y="1389888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89888"/>
            <a:ext cx="73152" cy="98755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2704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REPLENISHMENT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189280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When the expected interval is reached, the system presents shampoo as a possible need and shows the evidence used.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21792" y="2606040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606040"/>
            <a:ext cx="73152" cy="987552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432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COMPUTER VISION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When the product is lifted, a product interaction event is generated without using facial identification.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606040"/>
            <a:ext cx="73152" cy="987552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7432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STORE 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10896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experience retrieves current demo availability and the active electronic-label price.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21792" y="3822192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822192"/>
            <a:ext cx="73152" cy="987552"/>
          </a:xfrm>
          <a:prstGeom prst="rect">
            <a:avLst/>
          </a:prstGeom>
          <a:solidFill>
            <a:srgbClr val="237A3B"/>
          </a:solidFill>
          <a:ln w="12700">
            <a:solidFill>
              <a:srgbClr val="237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59352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PRICING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 price change occurs only when an approved rule or authorized approval is present.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309360" y="3822192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822192"/>
            <a:ext cx="73152" cy="987552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959352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PERSONALIZED RESPONSE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0528" y="4325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shelf display shows the usual item, a comparable option, rationale, price, and member choices.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21792" y="5038344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5038344"/>
            <a:ext cx="73152" cy="98755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75504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MEMBER CONTROL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554126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member can add, decline, defer, or correct the replenishment frequency.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309360" y="5038344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5038344"/>
            <a:ext cx="73152" cy="987552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5175504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AUDITABILITY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0528" y="554126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system records the shelf event, pricing reason, approval, member action, and basket update.</a:t>
            </a:r>
            <a:endParaRPr lang="en-US" sz="107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Guardrails for the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Dynamic pricing and computer vision should improve operations and relevance without becoming invasive or unfair.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89888"/>
            <a:ext cx="73152" cy="987552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NO FACIAL IDENTIFICATION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Use membership tap, login, or QR for identity. The camera observes product and shelf events.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309360" y="1389888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89888"/>
            <a:ext cx="73152" cy="987552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2704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NO SENSITIVE INFERENCE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189280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Do not infer health conditions or protected characteristics from video or purchasing patterns.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21792" y="2606040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606040"/>
            <a:ext cx="73152" cy="987552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432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NO SECRET PERSONAL PRICE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MVP price action applies to a defined product, store, promotion, or period, not an opaque price unique to a person.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606040"/>
            <a:ext cx="73152" cy="987552"/>
          </a:xfrm>
          <a:prstGeom prst="rect">
            <a:avLst/>
          </a:prstGeom>
          <a:solidFill>
            <a:srgbClr val="237A3B"/>
          </a:solidFill>
          <a:ln w="12700">
            <a:solidFill>
              <a:srgbClr val="23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7432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HUMAN / POLICY APPROVAL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10896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Respect margin floors, promotion rules, and approval gates before updating the electronic label.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21792" y="3822192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822192"/>
            <a:ext cx="73152" cy="98755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59352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EXPLAINABILITY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Show why replenishment and pricing messages appeared.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309360" y="3822192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822192"/>
            <a:ext cx="73152" cy="98755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959352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MEMBER CONTROL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0528" y="4325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Allow the member to decline, defer, correct, and edit preferences.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21792" y="5038344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5038344"/>
            <a:ext cx="73152" cy="98755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75504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554126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Record model or rule inputs, proposals, approvals, shelf-label update, and member action.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309360" y="5038344"/>
            <a:ext cx="537667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5038344"/>
            <a:ext cx="73152" cy="98755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5175504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SAFE FALLBACK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0528" y="554126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If video, inventory, pricing, or profile data is unavailable, show standard product information and current verified price.</a:t>
            </a:r>
            <a:endParaRPr lang="en-US" sz="107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</a:rPr>
              <a:t>NutriVerse user story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innovation is the connection between household intelligence and real-time store intelligence.</a:t>
            </a:r>
            <a:endParaRPr lang="en-US" sz="1250" dirty="0"/>
          </a:p>
        </p:txBody>
      </p:sp>
      <p:pic>
        <p:nvPicPr>
          <p:cNvPr id="4" name="Image 0" descr="/mnt/data/eb7128d602.png"/>
          <p:cNvPicPr>
            <a:picLocks noChangeAspect="1"/>
          </p:cNvPicPr>
          <p:nvPr/>
        </p:nvPicPr>
        <p:blipFill>
          <a:blip r:embed="rId3"/>
          <a:srcRect l="3947" r="3947"/>
          <a:stretch/>
        </p:blipFill>
        <p:spPr>
          <a:xfrm>
            <a:off x="566928" y="1298448"/>
            <a:ext cx="6720840" cy="4864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344168"/>
            <a:ext cx="404164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43800" y="1344168"/>
            <a:ext cx="73152" cy="1097280"/>
          </a:xfrm>
          <a:prstGeom prst="rect">
            <a:avLst/>
          </a:prstGeom>
          <a:solidFill>
            <a:srgbClr val="8B3DFF"/>
          </a:solidFill>
          <a:ln w="12700">
            <a:solidFill>
              <a:srgbClr val="8B3D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44968" y="1481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HOUSEHOLD INTELLIGENCE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44968" y="18470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Who the member shops for, what is regularly purchased, and what may be relevant now.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7543800" y="2651760"/>
            <a:ext cx="404164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43800" y="2651760"/>
            <a:ext cx="73152" cy="1097280"/>
          </a:xfrm>
          <a:prstGeom prst="rect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4968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STORE INTELLIGENCE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44968" y="315468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Shelf state, product interaction, inventory, promotions, and current verified price.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43800" y="3959352"/>
            <a:ext cx="404164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2700" dist="635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543800" y="3959352"/>
            <a:ext cx="73152" cy="1097280"/>
          </a:xfrm>
          <a:prstGeom prst="rect">
            <a:avLst/>
          </a:prstGeom>
          <a:solidFill>
            <a:srgbClr val="E56A1A"/>
          </a:solidFill>
          <a:ln w="12700">
            <a:solidFill>
              <a:srgbClr val="E56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44968" y="4096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B4A"/>
                </a:solidFill>
              </a:rPr>
              <a:t>EXPERIENCE INTELLIGENCE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44968" y="44622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The next relevant, explainable action across shelf, basket, marketing, sales, and service.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7543800" y="5285232"/>
            <a:ext cx="4041648" cy="658368"/>
          </a:xfrm>
          <a:prstGeom prst="roundRect">
            <a:avLst>
              <a:gd name="adj" fmla="val 6944"/>
            </a:avLst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5495544"/>
            <a:ext cx="3621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SEE → UNDERSTAND → PROPOSE → APPROVE → EXPERIENCE → LEARN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e8228c-e2eb-4057-9e54-6cff5bbd08d7}" enabled="1" method="Standar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NutriVerse Computer Vision and Dynamic Pricing User Story</dc:title>
  <dc:subject>Grocery retail user story and MVP flow</dc:subject>
  <dc:creator>Bastian, Raquel F.</dc:creator>
  <cp:lastModifiedBy>Bastian, Raquel F.</cp:lastModifiedBy>
  <cp:revision>2</cp:revision>
  <dcterms:created xsi:type="dcterms:W3CDTF">2026-09-16T14:17:47Z</dcterms:created>
  <dcterms:modified xsi:type="dcterms:W3CDTF">2026-09-16T14:19:04Z</dcterms:modified>
</cp:coreProperties>
</file>