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36A75"/>
                </a:solidFill>
              </a:rPr>
              <a:t>HOUSE OF ME | Luxury Fashion Experience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1858E"/>
                </a:solidFill>
              </a:rPr>
              <a:t>Style × Marketing × Commerce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8751d7b4d9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70A">
              <a:alpha val="6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731520"/>
            <a:ext cx="4800600" cy="5303520"/>
          </a:xfrm>
          <a:prstGeom prst="roundRect">
            <a:avLst>
              <a:gd name="adj" fmla="val 1524"/>
            </a:avLst>
          </a:prstGeom>
          <a:solidFill>
            <a:srgbClr val="120D13">
              <a:alpha val="8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1024128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08813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EXPERIENCE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6112" y="15727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HOUSE OF ME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7CDA2"/>
                </a:solidFill>
              </a:rPr>
              <a:t>Luxury Fashion Experience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914400" y="331012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E9EE"/>
                </a:solidFill>
              </a:rPr>
              <a:t>Where style meets identity, storytelling and personalized commerce.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44348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The store adapts to the customer, rather than the customer adapting to the store.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0F14"/>
                </a:solidFill>
              </a:rPr>
              <a:t>The client floor walk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6A75"/>
                </a:solidFill>
              </a:rPr>
              <a:t>I do not browse a store. I become the protagonist of a personalized luxury story.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609344" cy="29260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1288" y="1901952"/>
            <a:ext cx="603504" cy="603504"/>
          </a:xfrm>
          <a:prstGeom prst="ellipse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76148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B55"/>
                </a:solidFill>
              </a:rPr>
              <a:t>ARRIVE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36A75"/>
                </a:solidFill>
              </a:rPr>
              <a:t>Select my identity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600200"/>
            <a:ext cx="1609344" cy="29260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1901952"/>
            <a:ext cx="603504" cy="603504"/>
          </a:xfrm>
          <a:prstGeom prst="ellipse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276148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274F"/>
                </a:solidFill>
              </a:rPr>
              <a:t>STYLE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246120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36A75"/>
                </a:solidFill>
              </a:rPr>
              <a:t>Meet my digital concierge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62272" y="1600200"/>
            <a:ext cx="1609344" cy="29260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65192" y="1901952"/>
            <a:ext cx="603504" cy="603504"/>
          </a:xfrm>
          <a:prstGeom prst="ellipse">
            <a:avLst/>
          </a:prstGeom>
          <a:solidFill>
            <a:srgbClr val="8B4B83"/>
          </a:solidFill>
          <a:ln w="12700">
            <a:solidFill>
              <a:srgbClr val="8B4B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9432" y="276148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4B83"/>
                </a:solidFill>
              </a:rPr>
              <a:t>DISCOVER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3246120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36A75"/>
                </a:solidFill>
              </a:rPr>
              <a:t>Explore craftsmanship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64224" y="1600200"/>
            <a:ext cx="1609344" cy="29260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1901952"/>
            <a:ext cx="603504" cy="603504"/>
          </a:xfrm>
          <a:prstGeom prst="ellipse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1384" y="276148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B55"/>
                </a:solidFill>
              </a:rPr>
              <a:t>TRY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47104" y="3246120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36A75"/>
                </a:solidFill>
              </a:rPr>
              <a:t>Enter the infinite dressing room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66176" y="1600200"/>
            <a:ext cx="1609344" cy="29260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69096" y="1901952"/>
            <a:ext cx="603504" cy="603504"/>
          </a:xfrm>
          <a:prstGeom prst="ellipse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9096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03336" y="276148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274F"/>
                </a:solidFill>
              </a:rPr>
              <a:t>CONNECT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49056" y="3246120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36A75"/>
                </a:solidFill>
              </a:rPr>
              <a:t>Move campaign to closet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168128" y="1600200"/>
            <a:ext cx="1609344" cy="29260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71048" y="1901952"/>
            <a:ext cx="603504" cy="603504"/>
          </a:xfrm>
          <a:prstGeom prst="ellipse">
            <a:avLst/>
          </a:prstGeom>
          <a:solidFill>
            <a:srgbClr val="8B4B83"/>
          </a:solidFill>
          <a:ln w="12700">
            <a:solidFill>
              <a:srgbClr val="8B4B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71048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05288" y="276148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4B83"/>
                </a:solidFill>
              </a:rPr>
              <a:t>CREATE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351008" y="3246120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36A75"/>
                </a:solidFill>
              </a:rPr>
              <a:t>Build my capsule collection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0120" y="5010912"/>
            <a:ext cx="10241280" cy="822960"/>
          </a:xfrm>
          <a:prstGeom prst="roundRect">
            <a:avLst>
              <a:gd name="adj" fmla="val 6667"/>
            </a:avLst>
          </a:prstGeom>
          <a:solidFill>
            <a:srgbClr val="F5ECF1"/>
          </a:solidFill>
          <a:ln w="12700">
            <a:solidFill>
              <a:srgbClr val="DBC1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523951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0F14"/>
                </a:solidFill>
              </a:rPr>
              <a:t>Client promise: I experience how brand storytelling, clienteling, product discovery, virtual styling, commerce and loyalty become one elevated journey.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0F14"/>
                </a:solidFill>
              </a:rPr>
              <a:t>1 | The boutique changes to reflect who I want to be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6A75"/>
                </a:solidFill>
              </a:rPr>
              <a:t>The opening moment sets the mood, collection, styling lens and journey for the visit.</a:t>
            </a:r>
            <a:endParaRPr lang="en-US" sz="1250" dirty="0"/>
          </a:p>
        </p:txBody>
      </p:sp>
      <p:pic>
        <p:nvPicPr>
          <p:cNvPr id="4" name="Image 0" descr="/mnt/data/8751d7b4d9.png"/>
          <p:cNvPicPr>
            <a:picLocks noChangeAspect="1"/>
          </p:cNvPicPr>
          <p:nvPr/>
        </p:nvPicPr>
        <p:blipFill>
          <a:blip r:embed="rId3"/>
          <a:srcRect l="3008" r="3008"/>
          <a:stretch/>
        </p:blipFill>
        <p:spPr>
          <a:xfrm>
            <a:off x="548640" y="1298448"/>
            <a:ext cx="6858000" cy="4864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335024"/>
            <a:ext cx="39319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80960" y="1335024"/>
            <a:ext cx="73152" cy="1170432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82128" y="147218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What I do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82128" y="1819656"/>
            <a:ext cx="3602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Select a style identity or occasion such as executive, creative, traveler, minimalist or collection explorer.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80960" y="2706624"/>
            <a:ext cx="39319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2706624"/>
            <a:ext cx="73152" cy="1298448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82128" y="284378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What changes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82128" y="3191256"/>
            <a:ext cx="36027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Lighting, sound, visual merchandising, digital content and suggested collections adapt to the selected story.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680960" y="4224528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80960" y="4224528"/>
            <a:ext cx="73152" cy="1371600"/>
          </a:xfrm>
          <a:prstGeom prst="rect">
            <a:avLst/>
          </a:prstGeom>
          <a:solidFill>
            <a:srgbClr val="8B4B83"/>
          </a:solidFill>
          <a:ln w="12700">
            <a:solidFill>
              <a:srgbClr val="8B4B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82128" y="436168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82128" y="470916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Panoramic LED wall • touch kiosk • projection mapping • programmable lighting • spatial audio • show controller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0F14"/>
                </a:solidFill>
              </a:rPr>
              <a:t>2 | I meet my digital luxury concierge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6A75"/>
                </a:solidFill>
              </a:rPr>
              <a:t>The concierge translates identity, occasion and preferences into a curated edit.</a:t>
            </a:r>
            <a:endParaRPr lang="en-US" sz="1250" dirty="0"/>
          </a:p>
        </p:txBody>
      </p:sp>
      <p:pic>
        <p:nvPicPr>
          <p:cNvPr id="4" name="Image 0" descr="/mnt/data/acb03af703.png"/>
          <p:cNvPicPr>
            <a:picLocks noChangeAspect="1"/>
          </p:cNvPicPr>
          <p:nvPr/>
        </p:nvPicPr>
        <p:blipFill>
          <a:blip r:embed="rId3"/>
          <a:srcRect l="3433" r="3433"/>
          <a:stretch/>
        </p:blipFill>
        <p:spPr>
          <a:xfrm>
            <a:off x="4791456" y="1298448"/>
            <a:ext cx="6821424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53312"/>
            <a:ext cx="38404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353312"/>
            <a:ext cx="73152" cy="1207008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49047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My interaction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1837944"/>
            <a:ext cx="3511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Describe the occasion, silhouette, palette or desired expression and ask for coordinated looks.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2788920"/>
            <a:ext cx="38404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788920"/>
            <a:ext cx="73152" cy="1298448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92608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Marketing + clienteling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" y="3273552"/>
            <a:ext cx="3511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The experience connects collection storytelling, customer context, loyalty and appointment-based service.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" y="4315968"/>
            <a:ext cx="3840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4315968"/>
            <a:ext cx="73152" cy="1280160"/>
          </a:xfrm>
          <a:prstGeom prst="rect">
            <a:avLst/>
          </a:prstGeom>
          <a:solidFill>
            <a:srgbClr val="8B4B83"/>
          </a:solidFill>
          <a:ln w="12700">
            <a:solidFill>
              <a:srgbClr val="8B4B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445312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5528" y="4800600"/>
            <a:ext cx="3511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Transparent OLED or holographic display • microphone array • directional speakers • camera • clienteling tablet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0F14"/>
                </a:solidFill>
              </a:rPr>
              <a:t>3 | The product becomes a story, not a shelf item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6A75"/>
                </a:solidFill>
              </a:rPr>
              <a:t>A signature piece is presented like art, then opened into craftsmanship, materials and provenance.</a:t>
            </a:r>
            <a:endParaRPr lang="en-US" sz="1250" dirty="0"/>
          </a:p>
        </p:txBody>
      </p:sp>
      <p:pic>
        <p:nvPicPr>
          <p:cNvPr id="4" name="Image 0" descr="/mnt/data/4f8fc0cf53.png"/>
          <p:cNvPicPr>
            <a:picLocks noChangeAspect="1"/>
          </p:cNvPicPr>
          <p:nvPr/>
        </p:nvPicPr>
        <p:blipFill>
          <a:blip r:embed="rId3"/>
          <a:srcRect l="2871" r="2871"/>
          <a:stretch/>
        </p:blipFill>
        <p:spPr>
          <a:xfrm>
            <a:off x="548640" y="1298448"/>
            <a:ext cx="6903720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6002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" y="1664208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HOLOGRAM MOMENT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08392" y="1325880"/>
            <a:ext cx="38862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08392" y="1325880"/>
            <a:ext cx="73152" cy="1170432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463040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What I 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09560" y="1810512"/>
            <a:ext cx="3557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Place or scan a piece on the pedestal and explore its construction, inspiration and complementary items.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08392" y="2706624"/>
            <a:ext cx="38862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08392" y="2706624"/>
            <a:ext cx="73152" cy="1417320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09560" y="2843784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Commerce connection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09560" y="3191256"/>
            <a:ext cx="3557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Save the piece, compare editions, build a look, request an associate or continue the journey on mobile.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08392" y="4343400"/>
            <a:ext cx="38862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08392" y="4343400"/>
            <a:ext cx="73152" cy="1325880"/>
          </a:xfrm>
          <a:prstGeom prst="rect">
            <a:avLst/>
          </a:prstGeom>
          <a:solidFill>
            <a:srgbClr val="8B4B83"/>
          </a:solidFill>
          <a:ln w="12700">
            <a:solidFill>
              <a:srgbClr val="8B4B8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09560" y="4480560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09560" y="4828032"/>
            <a:ext cx="3557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RFID pedestal • tagged products • transparent display or hologram • motion sensors • product-recognition camera • touch control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0F14"/>
                </a:solidFill>
              </a:rPr>
              <a:t>4 | I enter the infinite dressing room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6A75"/>
                </a:solidFill>
              </a:rPr>
              <a:t>The smart mirror lets me explore complete looks, colors, accessories and occasions before physical try-on.</a:t>
            </a:r>
            <a:endParaRPr lang="en-US" sz="1250" dirty="0"/>
          </a:p>
        </p:txBody>
      </p:sp>
      <p:pic>
        <p:nvPicPr>
          <p:cNvPr id="4" name="Image 0" descr="/mnt/data/60c1ced59d.png"/>
          <p:cNvPicPr>
            <a:picLocks noChangeAspect="1"/>
          </p:cNvPicPr>
          <p:nvPr/>
        </p:nvPicPr>
        <p:blipFill>
          <a:blip r:embed="rId3"/>
          <a:srcRect l="3371" r="3371"/>
          <a:stretch/>
        </p:blipFill>
        <p:spPr>
          <a:xfrm>
            <a:off x="4782312" y="1298448"/>
            <a:ext cx="6830568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44168"/>
            <a:ext cx="38404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344168"/>
            <a:ext cx="73152" cy="1207008"/>
          </a:xfrm>
          <a:prstGeom prst="rect">
            <a:avLst/>
          </a:prstGeom>
          <a:solidFill>
            <a:srgbClr val="8B4B83"/>
          </a:solidFill>
          <a:ln w="12700">
            <a:solidFill>
              <a:srgbClr val="8B4B8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48132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My interaction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1828800"/>
            <a:ext cx="3511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Change look, color, accessory and destination. Save favorites or request pieces in the fitting room.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2779776"/>
            <a:ext cx="38404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779776"/>
            <a:ext cx="73152" cy="1298448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916936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Commerce moment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" y="3264408"/>
            <a:ext cx="3511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Add a complete look to the client profile or cart, check availability and choose delivery or appointment follow-up.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" y="4315968"/>
            <a:ext cx="3840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4315968"/>
            <a:ext cx="73152" cy="1280160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445312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5528" y="4800600"/>
            <a:ext cx="3511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Large smart mirror • camera array • interactive glass • garment rail with RFID • associate tablet • mobile checkout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0F14"/>
                </a:solidFill>
              </a:rPr>
              <a:t>5 | I experience campaign-to-closet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6A75"/>
                </a:solidFill>
              </a:rPr>
              <a:t>A collection story moves from inspiration and content into commerce, boutique service and loyalty.</a:t>
            </a:r>
            <a:endParaRPr lang="en-US" sz="1250" dirty="0"/>
          </a:p>
        </p:txBody>
      </p:sp>
      <p:pic>
        <p:nvPicPr>
          <p:cNvPr id="4" name="Image 0" descr="/mnt/data/c2e2f0bf9e.png"/>
          <p:cNvPicPr>
            <a:picLocks noChangeAspect="1"/>
          </p:cNvPicPr>
          <p:nvPr/>
        </p:nvPicPr>
        <p:blipFill>
          <a:blip r:embed="rId3"/>
          <a:srcRect l="2871" r="2871"/>
          <a:stretch/>
        </p:blipFill>
        <p:spPr>
          <a:xfrm>
            <a:off x="548640" y="1298448"/>
            <a:ext cx="6903720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08392" y="1325880"/>
            <a:ext cx="38862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08392" y="1325880"/>
            <a:ext cx="73152" cy="1143000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1463040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Marketing experience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09560" y="1810512"/>
            <a:ext cx="3557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Choose an audience or cultural moment. AI agents develop the collection narrative, campaign variants and channel concepts.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08392" y="2670048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08392" y="2670048"/>
            <a:ext cx="73152" cy="1371600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280720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Commerce experience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09560" y="3154680"/>
            <a:ext cx="3557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The same story continues into mobile discovery, boutique appointment, smart mirror, product selection and purchase.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08392" y="4279392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08392" y="4279392"/>
            <a:ext cx="73152" cy="1371600"/>
          </a:xfrm>
          <a:prstGeom prst="rect">
            <a:avLst/>
          </a:prstGeom>
          <a:solidFill>
            <a:srgbClr val="8B4B83"/>
          </a:solidFill>
          <a:ln w="12700">
            <a:solidFill>
              <a:srgbClr val="8B4B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09560" y="4416552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09560" y="4764024"/>
            <a:ext cx="3557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Content wall • creative workstations • interactive commerce display • mobile devices • clienteling station • omnichannel dashboard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0F14"/>
                </a:solidFill>
              </a:rPr>
              <a:t>6 | I walk the living runway, then create my own edit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6A75"/>
                </a:solidFill>
              </a:rPr>
              <a:t>The closing combines a memorable immersive moment with a practical co-creation output.</a:t>
            </a:r>
            <a:endParaRPr lang="en-US" sz="1250" dirty="0"/>
          </a:p>
        </p:txBody>
      </p:sp>
      <p:pic>
        <p:nvPicPr>
          <p:cNvPr id="4" name="Image 0" descr="/mnt/data/123de946fd.png"/>
          <p:cNvPicPr>
            <a:picLocks noChangeAspect="1"/>
          </p:cNvPicPr>
          <p:nvPr/>
        </p:nvPicPr>
        <p:blipFill>
          <a:blip r:embed="rId3"/>
          <a:srcRect l="3371" r="3371"/>
          <a:stretch/>
        </p:blipFill>
        <p:spPr>
          <a:xfrm>
            <a:off x="4782312" y="1298448"/>
            <a:ext cx="6830568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44168"/>
            <a:ext cx="3840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344168"/>
            <a:ext cx="73152" cy="1234440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48132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Living runway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1828800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Interactive floor and surrounding displays transform the walk into a personalized collection moment.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2807208"/>
            <a:ext cx="3840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807208"/>
            <a:ext cx="73152" cy="1234440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94436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VIP salon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" y="3291840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Co-create a capsule collection, appointment journey or collection-launch experience for the client’s own brand.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" y="4270248"/>
            <a:ext cx="384048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7620" dir="2700000" algn="bl" rotWithShape="0">
              <a:srgbClr val="130F14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4270248"/>
            <a:ext cx="73152" cy="1316736"/>
          </a:xfrm>
          <a:prstGeom prst="rect">
            <a:avLst/>
          </a:prstGeom>
          <a:solidFill>
            <a:srgbClr val="8B4B83"/>
          </a:solidFill>
          <a:ln w="12700">
            <a:solidFill>
              <a:srgbClr val="8B4B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440740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0F14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5528" y="4754880"/>
            <a:ext cx="35112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36A75"/>
                </a:solidFill>
              </a:rPr>
              <a:t>Interactive LED floor • panoramic displays • spatial audio • multi-touch salon table • digital whiteboard • secure handoff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0F14"/>
                </a:solidFill>
              </a:rPr>
              <a:t>What needs to be procured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6A75"/>
                </a:solidFill>
              </a:rPr>
              <a:t>Prioritize a reusable premium AV platform, then add the distinctive luxury interaction devices.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2084832" cy="429768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9888"/>
            <a:ext cx="2084832" cy="576072"/>
          </a:xfrm>
          <a:prstGeom prst="rect">
            <a:avLst/>
          </a:prstGeom>
          <a:solidFill>
            <a:srgbClr val="130F14"/>
          </a:solidFill>
          <a:ln w="12700">
            <a:solidFill>
              <a:srgbClr val="130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60020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IMMERSIVE SPACE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" y="2221992"/>
            <a:ext cx="17556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Panoramic LED walls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Projection mapping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Interactive LED floor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Programmable lighting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Spatial audio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834640" y="1389888"/>
            <a:ext cx="2084832" cy="429768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34640" y="1389888"/>
            <a:ext cx="2084832" cy="576072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60020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CONCIERGE + VOICE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99232" y="2221992"/>
            <a:ext cx="17556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Transparent OLED / hologram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Digital concierge screen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Microphone array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Directional speakers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Camera / presence sensors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5166360" y="1389888"/>
            <a:ext cx="2084832" cy="429768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6360" y="1389888"/>
            <a:ext cx="2084832" cy="576072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160020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STORY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30952" y="2221992"/>
            <a:ext cx="17556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RFID pedestal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Tagged hero products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Product-recognition camera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Transparent product display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Motion sensors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7498080" y="1389888"/>
            <a:ext cx="2084832" cy="429768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1389888"/>
            <a:ext cx="2084832" cy="576072"/>
          </a:xfrm>
          <a:prstGeom prst="rect">
            <a:avLst/>
          </a:prstGeom>
          <a:solidFill>
            <a:srgbClr val="8B4B83"/>
          </a:solidFill>
          <a:ln w="12700">
            <a:solidFill>
              <a:srgbClr val="8B4B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160020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FITTING + COMMERCE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2672" y="2221992"/>
            <a:ext cx="17556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Smart mirror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Camera array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RFID garment rail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Associate tablets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Mobile checkout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9829800" y="1389888"/>
            <a:ext cx="2084832" cy="429768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ED5D9"/>
            </a:solidFill>
            <a:prstDash val="solid"/>
          </a:ln>
          <a:effectLst>
            <a:outerShdw blurRad="12700" dist="6350" dir="2700000" algn="bl" rotWithShape="0">
              <a:srgbClr val="130F14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29800" y="1389888"/>
            <a:ext cx="2084832" cy="576072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39528" y="160020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CONTENT + SALON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94392" y="2221992"/>
            <a:ext cx="17556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Creative workstations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Campaign content wall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Multi-touch salon table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Digital whiteboard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2B2430"/>
                </a:solidFill>
              </a:rPr>
              <a:t>• Storage + reset kit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868680" y="5879592"/>
            <a:ext cx="10469880" cy="393192"/>
          </a:xfrm>
          <a:prstGeom prst="roundRect">
            <a:avLst>
              <a:gd name="adj" fmla="val 11628"/>
            </a:avLst>
          </a:prstGeom>
          <a:solidFill>
            <a:srgbClr val="F6EBDD"/>
          </a:solidFill>
          <a:ln w="12700">
            <a:solidFill>
              <a:srgbClr val="E4C5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989320"/>
            <a:ext cx="10012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05A25"/>
                </a:solidFill>
              </a:rPr>
              <a:t>Luxury principle: fewer, more cinematic interactions with impeccable content quality will feel more premium than too many devices.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7132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CDA2"/>
                </a:solidFill>
              </a:rPr>
              <a:t>The client should leave saying…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10744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“I did not visit a store.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I became the center of a luxury brand experience.”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67512" y="3749040"/>
            <a:ext cx="2487168" cy="1572768"/>
          </a:xfrm>
          <a:prstGeom prst="roundRect">
            <a:avLst>
              <a:gd name="adj" fmla="val 4070"/>
            </a:avLst>
          </a:prstGeom>
          <a:solidFill>
            <a:srgbClr val="2B202A"/>
          </a:solidFill>
          <a:ln w="12700">
            <a:solidFill>
              <a:srgbClr val="594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40142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CDA2"/>
                </a:solidFill>
              </a:rPr>
              <a:t>PERSONAL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0392" y="43799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boutique adapts to identity, occasion and preference.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56432" y="3749040"/>
            <a:ext cx="2487168" cy="1572768"/>
          </a:xfrm>
          <a:prstGeom prst="roundRect">
            <a:avLst>
              <a:gd name="adj" fmla="val 4070"/>
            </a:avLst>
          </a:prstGeom>
          <a:solidFill>
            <a:srgbClr val="2B202A"/>
          </a:solidFill>
          <a:ln w="12700">
            <a:solidFill>
              <a:srgbClr val="594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40142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CDA2"/>
                </a:solidFill>
              </a:rPr>
              <a:t>STORY-LED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39312" y="43799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Every hero product reveals craftsmanship and meaning.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3749040"/>
            <a:ext cx="2487168" cy="1572768"/>
          </a:xfrm>
          <a:prstGeom prst="roundRect">
            <a:avLst>
              <a:gd name="adj" fmla="val 4070"/>
            </a:avLst>
          </a:prstGeom>
          <a:solidFill>
            <a:srgbClr val="2B202A"/>
          </a:solidFill>
          <a:ln w="12700">
            <a:solidFill>
              <a:srgbClr val="594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40142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CDA2"/>
                </a:solidFill>
              </a:rPr>
              <a:t>CONNECTED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8232" y="43799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Campaign, fitting, clienteling and purchase operate as one journey.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34272" y="3749040"/>
            <a:ext cx="2487168" cy="1572768"/>
          </a:xfrm>
          <a:prstGeom prst="roundRect">
            <a:avLst>
              <a:gd name="adj" fmla="val 4070"/>
            </a:avLst>
          </a:prstGeom>
          <a:solidFill>
            <a:srgbClr val="2B202A"/>
          </a:solidFill>
          <a:ln w="12700">
            <a:solidFill>
              <a:srgbClr val="594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40142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CDA2"/>
                </a:solidFill>
              </a:rPr>
              <a:t>MEMORABLE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17152" y="43799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holographic gallery and living runway create signature moments.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DB8D0"/>
                </a:solidFill>
              </a:rPr>
              <a:t>HOUSE OF ME | Where style meets identity.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1858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7e8228c-e2eb-4057-9e54-6cff5bbd08d7}" enabled="1" method="Standar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of Me Luxury Fashion Experience</dc:title>
  <dc:subject>Luxury Fashion, Marketing and Commerce Client Showcase</dc:subject>
  <dc:creator>Bastian, Raquel F.</dc:creator>
  <cp:lastModifiedBy>Bastian, Raquel F.</cp:lastModifiedBy>
  <cp:revision>2</cp:revision>
  <dcterms:created xsi:type="dcterms:W3CDTF">2026-09-10T10:33:56Z</dcterms:created>
  <dcterms:modified xsi:type="dcterms:W3CDTF">2026-09-10T10:45:04Z</dcterms:modified>
</cp:coreProperties>
</file>