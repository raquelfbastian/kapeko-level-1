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75"/>
                </a:solidFill>
              </a:rPr>
              <a:t>NutriVerse Grocery Experience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869680" y="651052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A95"/>
                </a:solidFill>
              </a:rPr>
              <a:t>Nutrition × Marketing × Commerce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6eeb10cf9c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18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713232"/>
            <a:ext cx="5257800" cy="5394960"/>
          </a:xfrm>
          <a:prstGeom prst="roundRect">
            <a:avLst>
              <a:gd name="adj" fmla="val 1391"/>
            </a:avLst>
          </a:prstGeom>
          <a:solidFill>
            <a:srgbClr val="0A261F">
              <a:alpha val="8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6112" y="987552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05156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EXPERIENCE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" y="1499616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NutriVerse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Grocery Experience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96112" y="31546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E8"/>
                </a:solidFill>
              </a:rPr>
              <a:t>Where nutrition meets personalized commerce and marketing.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4224528"/>
            <a:ext cx="4315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8F6"/>
                </a:solidFill>
              </a:rPr>
              <a:t>A future grocery journey that understands my goals, guides my basket and continues beyond checkout.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The client floor walk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I become the shopper, make choices and see how nutrition, marketing and commerce work together.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1901952"/>
            <a:ext cx="603504" cy="603504"/>
          </a:xfrm>
          <a:prstGeom prst="ellipse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8B2C"/>
                </a:solidFill>
              </a:rPr>
              <a:t>CHOOSE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Set my wellness goal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1901952"/>
            <a:ext cx="603504" cy="603504"/>
          </a:xfrm>
          <a:prstGeom prst="ellipse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66B"/>
                </a:solidFill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Explore my basket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65192" y="1901952"/>
            <a:ext cx="603504" cy="603504"/>
          </a:xfrm>
          <a:prstGeom prst="ellipse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7A0"/>
                </a:solidFill>
              </a:rPr>
              <a:t>DISCOVER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Meet products in the smart aisle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64224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901952"/>
            <a:ext cx="603504" cy="603504"/>
          </a:xfrm>
          <a:prstGeom prst="ellipse">
            <a:avLst/>
          </a:prstGeom>
          <a:solidFill>
            <a:srgbClr val="2E7DAF"/>
          </a:solidFill>
          <a:ln w="12700">
            <a:solidFill>
              <a:srgbClr val="2E7D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1384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AF"/>
                </a:solidFill>
              </a:rPr>
              <a:t>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47104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Build meals and budget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9096" y="1901952"/>
            <a:ext cx="603504" cy="603504"/>
          </a:xfrm>
          <a:prstGeom prst="ellipse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9096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03336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8B2C"/>
                </a:solidFill>
              </a:rPr>
              <a:t>ACTIVATE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49056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Turn insight into campaign + cart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68128" y="1600200"/>
            <a:ext cx="1609344" cy="29443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71048" y="1901952"/>
            <a:ext cx="603504" cy="603504"/>
          </a:xfrm>
          <a:prstGeom prst="ellipse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71048" y="203911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05288" y="27614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66B"/>
                </a:solidFill>
              </a:rPr>
              <a:t>CONTINUE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51008" y="324612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A75"/>
                </a:solidFill>
              </a:rPr>
              <a:t>Connect kitchen, loyalty and reorder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" y="5010912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EAF6F0"/>
          </a:solidFill>
          <a:ln w="12700">
            <a:solidFill>
              <a:srgbClr val="B9D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230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25"/>
                </a:solidFill>
              </a:rPr>
              <a:t>Client promise: I do not receive a generic “healthy product” message. I experience how the store can responsibly connect my stated preferences to discovery, choice and ongoing engagement.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1 | I choose the experience I want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The visit begins with preferences declared by the client, not inferred medical information.</a:t>
            </a:r>
            <a:endParaRPr lang="en-US" sz="1250" dirty="0"/>
          </a:p>
        </p:txBody>
      </p:sp>
      <p:pic>
        <p:nvPicPr>
          <p:cNvPr id="4" name="Image 0" descr="/mnt/data/6eeb10cf9c.png"/>
          <p:cNvPicPr>
            <a:picLocks noChangeAspect="1"/>
          </p:cNvPicPr>
          <p:nvPr/>
        </p:nvPicPr>
        <p:blipFill>
          <a:blip r:embed="rId3"/>
          <a:srcRect l="3133" r="3133"/>
          <a:stretch/>
        </p:blipFill>
        <p:spPr>
          <a:xfrm>
            <a:off x="548640" y="1298448"/>
            <a:ext cx="6839712" cy="4864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35024"/>
            <a:ext cx="39319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335024"/>
            <a:ext cx="73152" cy="1170432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2128" y="14721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What I 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82128" y="1819656"/>
            <a:ext cx="3602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Choose a planning scenario such as active lifestyle, family nutrition, balanced meals, value or convenience.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2706624"/>
            <a:ext cx="39319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2706624"/>
            <a:ext cx="73152" cy="1298448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82128" y="2843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What appears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82128" y="3191256"/>
            <a:ext cx="36027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A digital guide explains the visit and configures the grocery environment around the selected scenario.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80960" y="4224528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4224528"/>
            <a:ext cx="73152" cy="137160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82128" y="4361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82128" y="470916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Transparent OLED or holographic display • touch kiosk • microphone array • directional speakers • programmable lighting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2 | I understand the basket, not just individual products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The client sees how food choices, budget, convenience and preferences can be viewed together.</a:t>
            </a:r>
            <a:endParaRPr lang="en-US" sz="1250" dirty="0"/>
          </a:p>
        </p:txBody>
      </p:sp>
      <p:pic>
        <p:nvPicPr>
          <p:cNvPr id="4" name="Image 0" descr="/mnt/data/6728a86f23.png"/>
          <p:cNvPicPr>
            <a:picLocks noChangeAspect="1"/>
          </p:cNvPicPr>
          <p:nvPr/>
        </p:nvPicPr>
        <p:blipFill>
          <a:blip r:embed="rId3"/>
          <a:srcRect l="3408" r="3408"/>
          <a:stretch/>
        </p:blipFill>
        <p:spPr>
          <a:xfrm>
            <a:off x="4800600" y="1298448"/>
            <a:ext cx="6812280" cy="4873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53312"/>
            <a:ext cx="38587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53312"/>
            <a:ext cx="73152" cy="1234440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9047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My interaction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3794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Build or scan a sample basket, then compare categories, alternatives and meal possibilities.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816352"/>
            <a:ext cx="38587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816352"/>
            <a:ext cx="73152" cy="1234440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5351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Marketing connection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30098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Consumer segments and occasions can shape educational content, recipes and campaign themes.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279392"/>
            <a:ext cx="385876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279392"/>
            <a:ext cx="73152" cy="128016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4165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764024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Curved LED wall • multi-touch table • basket scanner or RFID reader • sample products • facilitator tablet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3 | I walk into a smart grocery aisle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Products become interactive. The biggest wow moment is the product appearing as a holographic story.</a:t>
            </a:r>
            <a:endParaRPr lang="en-US" sz="1250" dirty="0"/>
          </a:p>
        </p:txBody>
      </p:sp>
      <p:pic>
        <p:nvPicPr>
          <p:cNvPr id="4" name="Image 0" descr="/mnt/data/22707e4fa1.png"/>
          <p:cNvPicPr>
            <a:picLocks noChangeAspect="1"/>
          </p:cNvPicPr>
          <p:nvPr/>
        </p:nvPicPr>
        <p:blipFill>
          <a:blip r:embed="rId3"/>
          <a:srcRect l="2871" r="2871"/>
          <a:stretch/>
        </p:blipFill>
        <p:spPr>
          <a:xfrm>
            <a:off x="548640" y="1298448"/>
            <a:ext cx="690372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591056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16550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HOLOGRAM MOMENT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08392" y="1325880"/>
            <a:ext cx="38862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08392" y="1325880"/>
            <a:ext cx="73152" cy="1170432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What I 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810512"/>
            <a:ext cx="3557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Pick up, scan or point to a product and ask what it is, how it can be used and what alternatives exist.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08392" y="2706624"/>
            <a:ext cx="3886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08392" y="2706624"/>
            <a:ext cx="73152" cy="1417320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What the shelf does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09560" y="3191256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Highlights relevant options, displays product origin, ingredients, meal ideas, availability, bundles and promotions.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08392" y="4343400"/>
            <a:ext cx="3886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08392" y="4343400"/>
            <a:ext cx="73152" cy="132588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09560" y="4828032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RFID shelf • tagged products • digital shelf labels • smart lighting • product scanner • holographic display or transparent OLED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4 | I co-create a meal plan and grocery basket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The digital guide connects meal inspiration to a shoppable basket, budget and store availability.</a:t>
            </a:r>
            <a:endParaRPr lang="en-US" sz="1250" dirty="0"/>
          </a:p>
        </p:txBody>
      </p:sp>
      <p:pic>
        <p:nvPicPr>
          <p:cNvPr id="4" name="Image 0" descr="/mnt/data/043b7650e0.png"/>
          <p:cNvPicPr>
            <a:picLocks noChangeAspect="1"/>
          </p:cNvPicPr>
          <p:nvPr/>
        </p:nvPicPr>
        <p:blipFill>
          <a:blip r:embed="rId3"/>
          <a:srcRect l="3496" r="3496"/>
          <a:stretch/>
        </p:blipFill>
        <p:spPr>
          <a:xfrm>
            <a:off x="4800600" y="1298448"/>
            <a:ext cx="681228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44168"/>
            <a:ext cx="3858768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44168"/>
            <a:ext cx="73152" cy="1207008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813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My interaction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28800"/>
            <a:ext cx="3529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Choose household size, meal occasion, preferences, budget and available preparation time.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770632"/>
            <a:ext cx="3858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770632"/>
            <a:ext cx="73152" cy="1298448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0779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Commerce moment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55264"/>
            <a:ext cx="3529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Create a shoppable list, compare basket options, swap items and select fulfillment or checkout.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297680"/>
            <a:ext cx="38587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297680"/>
            <a:ext cx="73152" cy="1298448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43484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782312"/>
            <a:ext cx="3529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Life-size digital guide • multi-touch meal table • voice interface • mobile cart station • checkout simulator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5 | I watch a nutrition insight become marketing and commerce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The showcase connects consumer occasion, campaign content, storefront, shelf and basket in one story.</a:t>
            </a:r>
            <a:endParaRPr lang="en-US" sz="1250" dirty="0"/>
          </a:p>
        </p:txBody>
      </p:sp>
      <p:pic>
        <p:nvPicPr>
          <p:cNvPr id="4" name="Image 0" descr="/mnt/data/0f869e36ef.png"/>
          <p:cNvPicPr>
            <a:picLocks noChangeAspect="1"/>
          </p:cNvPicPr>
          <p:nvPr/>
        </p:nvPicPr>
        <p:blipFill>
          <a:blip r:embed="rId3"/>
          <a:srcRect l="2871" r="2871"/>
          <a:stretch/>
        </p:blipFill>
        <p:spPr>
          <a:xfrm>
            <a:off x="548640" y="1298448"/>
            <a:ext cx="690372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08392" y="1325880"/>
            <a:ext cx="38862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08392" y="1325880"/>
            <a:ext cx="73152" cy="1143000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Marketing experience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1810512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Select a consumer occasion. AI agents create educational content, campaign variants and channel concepts.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08392" y="2670048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08392" y="2670048"/>
            <a:ext cx="73152" cy="1371600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Commerce experience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09560" y="3154680"/>
            <a:ext cx="3557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The same proposition continues into the mobile storefront, product shelf, bundle and cart.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08392" y="4279392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08392" y="4279392"/>
            <a:ext cx="73152" cy="137160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4416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09560" y="4764024"/>
            <a:ext cx="3557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Content wall • creative workstations • mobile demo devices • interactive storefront • smart shelf • agent orchestration display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6 | The relationship continues after checkout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The future grocery experience helps the shopper use the basket, replenish it and build an ongoing relationship.</a:t>
            </a:r>
            <a:endParaRPr lang="en-US" sz="1250" dirty="0"/>
          </a:p>
        </p:txBody>
      </p:sp>
      <p:pic>
        <p:nvPicPr>
          <p:cNvPr id="4" name="Image 0" descr="/mnt/data/cc83ba0aa2.png"/>
          <p:cNvPicPr>
            <a:picLocks noChangeAspect="1"/>
          </p:cNvPicPr>
          <p:nvPr/>
        </p:nvPicPr>
        <p:blipFill>
          <a:blip r:embed="rId3"/>
          <a:srcRect l="3371" r="3371"/>
          <a:stretch/>
        </p:blipFill>
        <p:spPr>
          <a:xfrm>
            <a:off x="4782312" y="1298448"/>
            <a:ext cx="6830568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44168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44168"/>
            <a:ext cx="73152" cy="1234440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81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Smart kitchen moment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1828800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Use purchased items to surface meal inspiration, preparation guidance and ways to reduce waste.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798064"/>
            <a:ext cx="3840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798064"/>
            <a:ext cx="73152" cy="1234440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9352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Loyalty moment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3282696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Choose replenishment, subscription, community, recognition or personalized offers as the next interaction.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4261104"/>
            <a:ext cx="38404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7620" dir="2700000" algn="bl" rotWithShape="0">
              <a:srgbClr val="102A25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4261104"/>
            <a:ext cx="73152" cy="132588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398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25"/>
                </a:solidFill>
              </a:rPr>
              <a:t>Equipment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" y="4745736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A75"/>
                </a:solidFill>
              </a:rPr>
              <a:t>Interactive kitchen island • panoramic display • voice interface • connected product props • loyalty touch table • mobile station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25"/>
                </a:solidFill>
              </a:rPr>
              <a:t>What needs to be procured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A75"/>
                </a:solidFill>
              </a:rPr>
              <a:t>Build a reliable shared platform, then add the smart-grocery and holographic components.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9888"/>
            <a:ext cx="2084832" cy="576072"/>
          </a:xfrm>
          <a:prstGeom prst="rect">
            <a:avLst/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EXPERIENCE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Panoramic LED / video wall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Multi-touch wall + table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Central AV control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Secure showcase network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Programmable lighting + audio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83464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389888"/>
            <a:ext cx="2084832" cy="576072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HOLOGRAM + VOICE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Transparent OLED or holographic display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Life-size digital guide screen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Microphone arrays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Directional speakers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Camera / presence sensor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516636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389888"/>
            <a:ext cx="2084832" cy="576072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GROCERY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095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RFID smart shelf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Tagged demo products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Digital shelf labels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Product scanner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Smart shelf lighting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749808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389888"/>
            <a:ext cx="2084832" cy="576072"/>
          </a:xfrm>
          <a:prstGeom prst="rect">
            <a:avLst/>
          </a:prstGeom>
          <a:solidFill>
            <a:srgbClr val="F68B2C"/>
          </a:solidFill>
          <a:ln w="12700">
            <a:solidFill>
              <a:srgbClr val="F68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COMMERCE + MARKETING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267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Content workstations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Interactive storefront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Mobile demo devices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POS / checkout simulator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Campaign and agent wall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9829800" y="1389888"/>
            <a:ext cx="2084832" cy="429768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  <a:effectLst>
            <a:outerShdw blurRad="12700" dist="6350" dir="2700000" algn="bl" rotWithShape="0">
              <a:srgbClr val="102A2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29800" y="1389888"/>
            <a:ext cx="2084832" cy="576072"/>
          </a:xfrm>
          <a:prstGeom prst="rect">
            <a:avLst/>
          </a:prstGeom>
          <a:solidFill>
            <a:srgbClr val="2E7DAF"/>
          </a:solidFill>
          <a:ln w="12700">
            <a:solidFill>
              <a:srgbClr val="2E7D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9528" y="160020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KITCHEN + WORKSHOP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94392" y="2221992"/>
            <a:ext cx="17556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Interactive kitchen island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Connected food props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Loyalty touch table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Interactive whiteboard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8302C"/>
                </a:solidFill>
              </a:rPr>
              <a:t>• Storage, charging and reset kit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868680" y="5879592"/>
            <a:ext cx="10469880" cy="393192"/>
          </a:xfrm>
          <a:prstGeom prst="roundRect">
            <a:avLst>
              <a:gd name="adj" fmla="val 11628"/>
            </a:avLst>
          </a:prstGeom>
          <a:solidFill>
            <a:srgbClr val="FFF3D6"/>
          </a:solidFill>
          <a:ln w="12700">
            <a:solidFill>
              <a:srgbClr val="F4D8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989320"/>
            <a:ext cx="10012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A10"/>
                </a:solidFill>
              </a:rPr>
              <a:t>Suggestion: use the hologram as one memorable product-story moment, not as the entire experience.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7132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DEBD8"/>
                </a:solidFill>
              </a:rPr>
              <a:t>The client should leave saying…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10744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“I did not just see a smart grocery store.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 experienced how nutrition, marketing and commerce can become one connected customer journey.”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67512" y="3822192"/>
            <a:ext cx="2487168" cy="1508760"/>
          </a:xfrm>
          <a:prstGeom prst="roundRect">
            <a:avLst>
              <a:gd name="adj" fmla="val 4242"/>
            </a:avLst>
          </a:prstGeom>
          <a:solidFill>
            <a:srgbClr val="20433A"/>
          </a:solidFill>
          <a:ln w="12700">
            <a:solidFill>
              <a:srgbClr val="386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8E"/>
                </a:solidFill>
              </a:rPr>
              <a:t>PERSONAL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" y="44256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experience begins from my declared preferences and shopping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6432" y="3822192"/>
            <a:ext cx="2487168" cy="1508760"/>
          </a:xfrm>
          <a:prstGeom prst="roundRect">
            <a:avLst>
              <a:gd name="adj" fmla="val 4242"/>
            </a:avLst>
          </a:prstGeom>
          <a:solidFill>
            <a:srgbClr val="20433A"/>
          </a:solidFill>
          <a:ln w="12700">
            <a:solidFill>
              <a:srgbClr val="386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8E"/>
                </a:solidFill>
              </a:rPr>
              <a:t>PHYGITAL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312" y="44256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Campaign, mobile journey, smart shelf and basket work as one experience.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3822192"/>
            <a:ext cx="2487168" cy="1508760"/>
          </a:xfrm>
          <a:prstGeom prst="roundRect">
            <a:avLst>
              <a:gd name="adj" fmla="val 4242"/>
            </a:avLst>
          </a:prstGeom>
          <a:solidFill>
            <a:srgbClr val="20433A"/>
          </a:solidFill>
          <a:ln w="12700">
            <a:solidFill>
              <a:srgbClr val="386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8E"/>
                </a:solidFill>
              </a:rPr>
              <a:t>MEMORABLE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44256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holographic product story and digital guide create the signature moment.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3822192"/>
            <a:ext cx="2487168" cy="1508760"/>
          </a:xfrm>
          <a:prstGeom prst="roundRect">
            <a:avLst>
              <a:gd name="adj" fmla="val 4242"/>
            </a:avLst>
          </a:prstGeom>
          <a:solidFill>
            <a:srgbClr val="20433A"/>
          </a:solidFill>
          <a:ln w="12700">
            <a:solidFill>
              <a:srgbClr val="386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8E"/>
                </a:solidFill>
              </a:rPr>
              <a:t>ACTIONABLE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17152" y="44256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 leave with a client-specific grocery and wellness experiment.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5E2CE"/>
                </a:solidFill>
              </a:rPr>
              <a:t>NutriVerse Grocery Experience | Where nutrition meets personalized commerce.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0138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79A9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e8228c-e2eb-4057-9e54-6cff5bbd08d7}" enabled="1" method="Standar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NutriVerse Grocery Experience</dc:title>
  <dc:subject>Nutrition, Marketing and Commerce Client Showcase</dc:subject>
  <dc:creator>Bastian, Raquel F.</dc:creator>
  <cp:lastModifiedBy>Bastian, Raquel F.</cp:lastModifiedBy>
  <cp:revision>2</cp:revision>
  <dcterms:created xsi:type="dcterms:W3CDTF">2026-09-10T10:23:29Z</dcterms:created>
  <dcterms:modified xsi:type="dcterms:W3CDTF">2026-09-10T10:24:50Z</dcterms:modified>
</cp:coreProperties>
</file>